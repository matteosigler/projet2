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657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re"/>
          <p:cNvSpPr txBox="1"/>
          <p:nvPr/>
        </p:nvSpPr>
        <p:spPr>
          <a:xfrm>
            <a:off x="350219" y="204294"/>
            <a:ext cx="9485099" cy="539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29" b="1" spc="-150">
                <a:solidFill>
                  <a:srgbClr val="113B33"/>
                </a:solidFill>
                <a:latin typeface="Montserrat"/>
              </a:rPr>
              <a:t>Planning de campagne · 25 ans de L'Arbre Vert</a:t>
            </a:r>
          </a:p>
        </p:txBody>
      </p:sp>
      <p:sp>
        <p:nvSpPr>
          <p:cNvPr id="3" name="Sous-titre"/>
          <p:cNvSpPr txBox="1"/>
          <p:nvPr/>
        </p:nvSpPr>
        <p:spPr>
          <a:xfrm>
            <a:off x="364811" y="715031"/>
            <a:ext cx="9485099" cy="2772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22" b="0">
                <a:solidFill>
                  <a:srgbClr val="5F6B66"/>
                </a:solidFill>
                <a:latin typeface="Lato"/>
              </a:rPr>
              <a:t>Annonce en amont  ·  temps fort le dimanche 24 septembre 2028 · prolongation jusqu'en décembre</a:t>
            </a:r>
          </a:p>
        </p:txBody>
      </p:sp>
      <p:pic>
        <p:nvPicPr>
          <p:cNvPr id="4" name="Logo L'Arbre Vert" descr="logo_arbre_v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232" y="138628"/>
            <a:ext cx="663957" cy="758808"/>
          </a:xfrm>
          <a:prstGeom prst="rect">
            <a:avLst/>
          </a:prstGeom>
        </p:spPr>
      </p:pic>
      <p:sp>
        <p:nvSpPr>
          <p:cNvPr id="5" name="Légende fond"/>
          <p:cNvSpPr/>
          <p:nvPr/>
        </p:nvSpPr>
        <p:spPr>
          <a:xfrm>
            <a:off x="7172194" y="1036065"/>
            <a:ext cx="4742549" cy="408589"/>
          </a:xfrm>
          <a:prstGeom prst="roundRect">
            <a:avLst>
              <a:gd name="adj" fmla="val 25000"/>
            </a:avLst>
          </a:prstGeom>
          <a:solidFill>
            <a:srgbClr val="F3F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égende préparation"/>
          <p:cNvSpPr/>
          <p:nvPr/>
        </p:nvSpPr>
        <p:spPr>
          <a:xfrm>
            <a:off x="7361896" y="1181989"/>
            <a:ext cx="328330" cy="124036"/>
          </a:xfrm>
          <a:prstGeom prst="roundRect">
            <a:avLst>
              <a:gd name="adj" fmla="val 50000"/>
            </a:avLst>
          </a:prstGeom>
          <a:solidFill>
            <a:srgbClr val="AED0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7781" y="1130916"/>
            <a:ext cx="1459246" cy="218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6" b="0">
                <a:solidFill>
                  <a:srgbClr val="2A3A35"/>
                </a:solidFill>
                <a:latin typeface="Lato"/>
              </a:rPr>
              <a:t>Préparation / prolongation</a:t>
            </a:r>
          </a:p>
        </p:txBody>
      </p:sp>
      <p:sp>
        <p:nvSpPr>
          <p:cNvPr id="8" name="Légende diffusion"/>
          <p:cNvSpPr/>
          <p:nvPr/>
        </p:nvSpPr>
        <p:spPr>
          <a:xfrm>
            <a:off x="9331878" y="1181989"/>
            <a:ext cx="328330" cy="124036"/>
          </a:xfrm>
          <a:prstGeom prst="roundRect">
            <a:avLst>
              <a:gd name="adj" fmla="val 50000"/>
            </a:avLst>
          </a:prstGeom>
          <a:solidFill>
            <a:srgbClr val="5B93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47763" y="1130916"/>
            <a:ext cx="1240359" cy="218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6" b="0">
                <a:solidFill>
                  <a:srgbClr val="2A3A35"/>
                </a:solidFill>
                <a:latin typeface="Lato"/>
              </a:rPr>
              <a:t>Diffusion / temps fort</a:t>
            </a:r>
          </a:p>
        </p:txBody>
      </p:sp>
      <p:cxnSp>
        <p:nvCxnSpPr>
          <p:cNvPr id="10" name="Légende ligne Jour J"/>
          <p:cNvCxnSpPr/>
          <p:nvPr/>
        </p:nvCxnSpPr>
        <p:spPr>
          <a:xfrm>
            <a:off x="11024603" y="1109027"/>
            <a:ext cx="0" cy="269960"/>
          </a:xfrm>
          <a:prstGeom prst="line">
            <a:avLst/>
          </a:prstGeom>
          <a:ln w="14592">
            <a:solidFill>
              <a:srgbClr val="034034"/>
            </a:solidFill>
            <a:prstDash val="dash"/>
          </a:ln>
          <a:effectLst/>
        </p:spPr>
      </p:cxnSp>
      <p:sp>
        <p:nvSpPr>
          <p:cNvPr id="11" name="Légende point Jour J"/>
          <p:cNvSpPr/>
          <p:nvPr/>
        </p:nvSpPr>
        <p:spPr>
          <a:xfrm>
            <a:off x="11163232" y="1181989"/>
            <a:ext cx="131332" cy="131332"/>
          </a:xfrm>
          <a:prstGeom prst="ellipse">
            <a:avLst/>
          </a:prstGeom>
          <a:solidFill>
            <a:srgbClr val="0340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04007" y="1130916"/>
            <a:ext cx="437774" cy="218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6" b="0">
                <a:solidFill>
                  <a:srgbClr val="2A3A35"/>
                </a:solidFill>
                <a:latin typeface="Lato"/>
              </a:rPr>
              <a:t>Jour J</a:t>
            </a:r>
          </a:p>
        </p:txBody>
      </p:sp>
      <p:sp>
        <p:nvSpPr>
          <p:cNvPr id="13" name="Mois AOÛT 2028"/>
          <p:cNvSpPr/>
          <p:nvPr/>
        </p:nvSpPr>
        <p:spPr>
          <a:xfrm>
            <a:off x="3272359" y="1546801"/>
            <a:ext cx="1731400" cy="328330"/>
          </a:xfrm>
          <a:prstGeom prst="roundRect">
            <a:avLst>
              <a:gd name="adj" fmla="val 13333"/>
            </a:avLst>
          </a:prstGeom>
          <a:solidFill>
            <a:srgbClr val="EBF1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2359" y="1546801"/>
            <a:ext cx="1731400" cy="328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9" b="1">
                <a:solidFill>
                  <a:srgbClr val="113B33"/>
                </a:solidFill>
                <a:latin typeface="Montserrat"/>
              </a:rPr>
              <a:t>AOÛT 2028</a:t>
            </a:r>
          </a:p>
        </p:txBody>
      </p:sp>
      <p:sp>
        <p:nvSpPr>
          <p:cNvPr id="15" name="Mois SEPTEMBRE 2028"/>
          <p:cNvSpPr/>
          <p:nvPr/>
        </p:nvSpPr>
        <p:spPr>
          <a:xfrm>
            <a:off x="5025648" y="1546801"/>
            <a:ext cx="1674842" cy="328330"/>
          </a:xfrm>
          <a:prstGeom prst="roundRect">
            <a:avLst>
              <a:gd name="adj" fmla="val 13333"/>
            </a:avLst>
          </a:prstGeom>
          <a:solidFill>
            <a:srgbClr val="EBF1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5648" y="1546801"/>
            <a:ext cx="1674842" cy="328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9" b="1">
                <a:solidFill>
                  <a:srgbClr val="113B33"/>
                </a:solidFill>
                <a:latin typeface="Montserrat"/>
              </a:rPr>
              <a:t>SEPTEMBRE 2028</a:t>
            </a:r>
          </a:p>
        </p:txBody>
      </p:sp>
      <p:sp>
        <p:nvSpPr>
          <p:cNvPr id="17" name="Mois OCTOBRE 2028"/>
          <p:cNvSpPr/>
          <p:nvPr/>
        </p:nvSpPr>
        <p:spPr>
          <a:xfrm>
            <a:off x="6722379" y="1546801"/>
            <a:ext cx="1731400" cy="328330"/>
          </a:xfrm>
          <a:prstGeom prst="roundRect">
            <a:avLst>
              <a:gd name="adj" fmla="val 13333"/>
            </a:avLst>
          </a:prstGeom>
          <a:solidFill>
            <a:srgbClr val="EBF1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2379" y="1546801"/>
            <a:ext cx="1731400" cy="328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9" b="1">
                <a:solidFill>
                  <a:srgbClr val="113B33"/>
                </a:solidFill>
                <a:latin typeface="Montserrat"/>
              </a:rPr>
              <a:t>OCTOBRE 2028</a:t>
            </a:r>
          </a:p>
        </p:txBody>
      </p:sp>
      <p:sp>
        <p:nvSpPr>
          <p:cNvPr id="19" name="Mois NOVEMBRE 2028"/>
          <p:cNvSpPr/>
          <p:nvPr/>
        </p:nvSpPr>
        <p:spPr>
          <a:xfrm>
            <a:off x="8475668" y="1546801"/>
            <a:ext cx="1674842" cy="328330"/>
          </a:xfrm>
          <a:prstGeom prst="roundRect">
            <a:avLst>
              <a:gd name="adj" fmla="val 13333"/>
            </a:avLst>
          </a:prstGeom>
          <a:solidFill>
            <a:srgbClr val="EBF1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5668" y="1546801"/>
            <a:ext cx="1674842" cy="328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9" b="1">
                <a:solidFill>
                  <a:srgbClr val="113B33"/>
                </a:solidFill>
                <a:latin typeface="Montserrat"/>
              </a:rPr>
              <a:t>NOVEMBRE 2028</a:t>
            </a:r>
          </a:p>
        </p:txBody>
      </p:sp>
      <p:sp>
        <p:nvSpPr>
          <p:cNvPr id="21" name="Mois DÉCEMBRE 2028"/>
          <p:cNvSpPr/>
          <p:nvPr/>
        </p:nvSpPr>
        <p:spPr>
          <a:xfrm>
            <a:off x="10172399" y="1546801"/>
            <a:ext cx="1731400" cy="328330"/>
          </a:xfrm>
          <a:prstGeom prst="roundRect">
            <a:avLst>
              <a:gd name="adj" fmla="val 13333"/>
            </a:avLst>
          </a:prstGeom>
          <a:solidFill>
            <a:srgbClr val="EBF1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2399" y="1546801"/>
            <a:ext cx="1731400" cy="328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9" b="1">
                <a:solidFill>
                  <a:srgbClr val="113B33"/>
                </a:solidFill>
                <a:latin typeface="Montserrat"/>
              </a:rPr>
              <a:t>DÉCEMBRE 2028</a:t>
            </a:r>
          </a:p>
        </p:txBody>
      </p:sp>
      <p:sp>
        <p:nvSpPr>
          <p:cNvPr id="23" name="Panneau En amont"/>
          <p:cNvSpPr/>
          <p:nvPr/>
        </p:nvSpPr>
        <p:spPr>
          <a:xfrm>
            <a:off x="291849" y="1772984"/>
            <a:ext cx="2903899" cy="2349386"/>
          </a:xfrm>
          <a:prstGeom prst="roundRect">
            <a:avLst>
              <a:gd name="adj" fmla="val 4347"/>
            </a:avLst>
          </a:prstGeom>
          <a:solidFill>
            <a:srgbClr val="EAF1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nneau Temps fort"/>
          <p:cNvSpPr/>
          <p:nvPr/>
        </p:nvSpPr>
        <p:spPr>
          <a:xfrm>
            <a:off x="291849" y="4180740"/>
            <a:ext cx="2903899" cy="751512"/>
          </a:xfrm>
          <a:prstGeom prst="roundRect">
            <a:avLst>
              <a:gd name="adj" fmla="val 13592"/>
            </a:avLst>
          </a:prstGeom>
          <a:solidFill>
            <a:srgbClr val="E1E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Bande Temps fort"/>
          <p:cNvSpPr/>
          <p:nvPr/>
        </p:nvSpPr>
        <p:spPr>
          <a:xfrm>
            <a:off x="3261415" y="4180740"/>
            <a:ext cx="8653329" cy="751512"/>
          </a:xfrm>
          <a:prstGeom prst="roundRect">
            <a:avLst>
              <a:gd name="adj" fmla="val 9708"/>
            </a:avLst>
          </a:prstGeom>
          <a:solidFill>
            <a:srgbClr val="EEF4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nneau Après"/>
          <p:cNvSpPr/>
          <p:nvPr/>
        </p:nvSpPr>
        <p:spPr>
          <a:xfrm>
            <a:off x="291849" y="4990621"/>
            <a:ext cx="2903899" cy="1254952"/>
          </a:xfrm>
          <a:prstGeom prst="roundRect">
            <a:avLst>
              <a:gd name="adj" fmla="val 8139"/>
            </a:avLst>
          </a:prstGeom>
          <a:solidFill>
            <a:srgbClr val="F2F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Grille"/>
          <p:cNvCxnSpPr/>
          <p:nvPr/>
        </p:nvCxnSpPr>
        <p:spPr>
          <a:xfrm>
            <a:off x="3261415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28" name="Grille"/>
          <p:cNvCxnSpPr/>
          <p:nvPr/>
        </p:nvCxnSpPr>
        <p:spPr>
          <a:xfrm>
            <a:off x="4109780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29" name="Grille"/>
          <p:cNvCxnSpPr/>
          <p:nvPr/>
        </p:nvCxnSpPr>
        <p:spPr>
          <a:xfrm>
            <a:off x="5014704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0" name="Grille"/>
          <p:cNvCxnSpPr/>
          <p:nvPr/>
        </p:nvCxnSpPr>
        <p:spPr>
          <a:xfrm>
            <a:off x="5863069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1" name="Grille"/>
          <p:cNvCxnSpPr/>
          <p:nvPr/>
        </p:nvCxnSpPr>
        <p:spPr>
          <a:xfrm>
            <a:off x="6711435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2" name="Grille"/>
          <p:cNvCxnSpPr/>
          <p:nvPr/>
        </p:nvCxnSpPr>
        <p:spPr>
          <a:xfrm>
            <a:off x="7559800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3" name="Grille"/>
          <p:cNvCxnSpPr/>
          <p:nvPr/>
        </p:nvCxnSpPr>
        <p:spPr>
          <a:xfrm>
            <a:off x="8464723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4" name="Grille"/>
          <p:cNvCxnSpPr/>
          <p:nvPr/>
        </p:nvCxnSpPr>
        <p:spPr>
          <a:xfrm>
            <a:off x="9313089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5" name="Grille"/>
          <p:cNvCxnSpPr/>
          <p:nvPr/>
        </p:nvCxnSpPr>
        <p:spPr>
          <a:xfrm>
            <a:off x="10161454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6" name="Grille"/>
          <p:cNvCxnSpPr/>
          <p:nvPr/>
        </p:nvCxnSpPr>
        <p:spPr>
          <a:xfrm>
            <a:off x="11009820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cxnSp>
        <p:nvCxnSpPr>
          <p:cNvPr id="37" name="Grille"/>
          <p:cNvCxnSpPr/>
          <p:nvPr/>
        </p:nvCxnSpPr>
        <p:spPr>
          <a:xfrm>
            <a:off x="11914743" y="1926205"/>
            <a:ext cx="0" cy="4326664"/>
          </a:xfrm>
          <a:prstGeom prst="line">
            <a:avLst/>
          </a:prstGeom>
          <a:ln w="7296">
            <a:solidFill>
              <a:srgbClr val="D6DBD2"/>
            </a:solidFill>
            <a:prstDash val="sysDash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10736" y="1860539"/>
            <a:ext cx="2626643" cy="218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63" b="1" spc="50">
                <a:solidFill>
                  <a:srgbClr val="113B33"/>
                </a:solidFill>
                <a:latin typeface="Montserrat"/>
              </a:rPr>
              <a:t>EN AMONT</a:t>
            </a:r>
          </a:p>
        </p:txBody>
      </p:sp>
      <p:sp>
        <p:nvSpPr>
          <p:cNvPr id="39" name="Posts clés réseaux sociaux"/>
          <p:cNvSpPr txBox="1"/>
          <p:nvPr/>
        </p:nvSpPr>
        <p:spPr>
          <a:xfrm>
            <a:off x="525329" y="2174276"/>
            <a:ext cx="2626643" cy="1897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Posts clés réseaux sociaux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329" y="2363978"/>
            <a:ext cx="2626643" cy="160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5" b="0">
                <a:solidFill>
                  <a:srgbClr val="5F6B66"/>
                </a:solidFill>
                <a:latin typeface="Lato"/>
              </a:rPr>
              <a:t>stories · posts · carrousels · 5 clés / semaine</a:t>
            </a:r>
          </a:p>
        </p:txBody>
      </p:sp>
      <p:sp>
        <p:nvSpPr>
          <p:cNvPr id="41" name="Barre Posts clés réseaux sociaux"/>
          <p:cNvSpPr/>
          <p:nvPr/>
        </p:nvSpPr>
        <p:spPr>
          <a:xfrm>
            <a:off x="4449126" y="2181573"/>
            <a:ext cx="1866404" cy="233479"/>
          </a:xfrm>
          <a:prstGeom prst="roundRect">
            <a:avLst>
              <a:gd name="adj" fmla="val 50000"/>
            </a:avLst>
          </a:prstGeom>
          <a:solidFill>
            <a:srgbClr val="5B93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0617" y="2196165"/>
            <a:ext cx="882844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22 août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7678" y="2196165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2A3A35"/>
                </a:solidFill>
                <a:latin typeface="Lato"/>
              </a:rPr>
              <a:t>23 sept.</a:t>
            </a:r>
          </a:p>
        </p:txBody>
      </p:sp>
      <p:sp>
        <p:nvSpPr>
          <p:cNvPr id="44" name="Flyers dans les colis"/>
          <p:cNvSpPr txBox="1"/>
          <p:nvPr/>
        </p:nvSpPr>
        <p:spPr>
          <a:xfrm>
            <a:off x="525329" y="2597458"/>
            <a:ext cx="2626643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Flyers dans les colis</a:t>
            </a:r>
          </a:p>
        </p:txBody>
      </p:sp>
      <p:sp>
        <p:nvSpPr>
          <p:cNvPr id="45" name="Barre Flyers dans les colis"/>
          <p:cNvSpPr/>
          <p:nvPr/>
        </p:nvSpPr>
        <p:spPr>
          <a:xfrm>
            <a:off x="4449126" y="2582865"/>
            <a:ext cx="1866404" cy="233479"/>
          </a:xfrm>
          <a:prstGeom prst="roundRect">
            <a:avLst>
              <a:gd name="adj" fmla="val 50000"/>
            </a:avLst>
          </a:prstGeom>
          <a:solidFill>
            <a:srgbClr val="5B93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0617" y="2597458"/>
            <a:ext cx="882844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22 août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678" y="2597458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2A3A35"/>
                </a:solidFill>
                <a:latin typeface="Lato"/>
              </a:rPr>
              <a:t>23 sept.</a:t>
            </a:r>
          </a:p>
        </p:txBody>
      </p:sp>
      <p:sp>
        <p:nvSpPr>
          <p:cNvPr id="48" name="QR code sur les packagings"/>
          <p:cNvSpPr txBox="1"/>
          <p:nvPr/>
        </p:nvSpPr>
        <p:spPr>
          <a:xfrm>
            <a:off x="525329" y="2991454"/>
            <a:ext cx="2626643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QR code sur les packagings</a:t>
            </a:r>
          </a:p>
        </p:txBody>
      </p:sp>
      <p:sp>
        <p:nvSpPr>
          <p:cNvPr id="49" name="Barre QR code sur les packagings"/>
          <p:cNvSpPr/>
          <p:nvPr/>
        </p:nvSpPr>
        <p:spPr>
          <a:xfrm>
            <a:off x="4053223" y="2976862"/>
            <a:ext cx="7861521" cy="233479"/>
          </a:xfrm>
          <a:prstGeom prst="roundRect">
            <a:avLst>
              <a:gd name="adj" fmla="val 50000"/>
            </a:avLst>
          </a:prstGeom>
          <a:solidFill>
            <a:srgbClr val="AED0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4713" y="2991454"/>
            <a:ext cx="882844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15 août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66233" y="2991454"/>
            <a:ext cx="846363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31 déc.</a:t>
            </a:r>
          </a:p>
        </p:txBody>
      </p:sp>
      <p:sp>
        <p:nvSpPr>
          <p:cNvPr id="52" name="Landing page"/>
          <p:cNvSpPr txBox="1"/>
          <p:nvPr/>
        </p:nvSpPr>
        <p:spPr>
          <a:xfrm>
            <a:off x="525329" y="3370858"/>
            <a:ext cx="2626643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Landing page</a:t>
            </a:r>
          </a:p>
        </p:txBody>
      </p:sp>
      <p:sp>
        <p:nvSpPr>
          <p:cNvPr id="53" name="Barre Landing page"/>
          <p:cNvSpPr/>
          <p:nvPr/>
        </p:nvSpPr>
        <p:spPr>
          <a:xfrm>
            <a:off x="4053223" y="3356266"/>
            <a:ext cx="7861521" cy="233479"/>
          </a:xfrm>
          <a:prstGeom prst="roundRect">
            <a:avLst>
              <a:gd name="adj" fmla="val 50000"/>
            </a:avLst>
          </a:prstGeom>
          <a:solidFill>
            <a:srgbClr val="AED0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4713" y="3370858"/>
            <a:ext cx="882844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15 août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66233" y="3370858"/>
            <a:ext cx="846363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31 déc.</a:t>
            </a:r>
          </a:p>
        </p:txBody>
      </p:sp>
      <p:sp>
        <p:nvSpPr>
          <p:cNvPr id="56" name="Début de l'influence"/>
          <p:cNvSpPr txBox="1"/>
          <p:nvPr/>
        </p:nvSpPr>
        <p:spPr>
          <a:xfrm>
            <a:off x="525329" y="3764855"/>
            <a:ext cx="2626643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Début de l'influence</a:t>
            </a:r>
          </a:p>
        </p:txBody>
      </p:sp>
      <p:sp>
        <p:nvSpPr>
          <p:cNvPr id="57" name="Barre Début de l'influence"/>
          <p:cNvSpPr/>
          <p:nvPr/>
        </p:nvSpPr>
        <p:spPr>
          <a:xfrm>
            <a:off x="4449126" y="3750262"/>
            <a:ext cx="1866404" cy="233479"/>
          </a:xfrm>
          <a:prstGeom prst="roundRect">
            <a:avLst>
              <a:gd name="adj" fmla="val 50000"/>
            </a:avLst>
          </a:prstGeom>
          <a:solidFill>
            <a:srgbClr val="5B93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00617" y="3764855"/>
            <a:ext cx="882844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91" b="0">
                <a:solidFill>
                  <a:srgbClr val="2A3A35"/>
                </a:solidFill>
                <a:latin typeface="Lato"/>
              </a:rPr>
              <a:t>22 août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7678" y="3764855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2A3A35"/>
                </a:solidFill>
                <a:latin typeface="Lato"/>
              </a:rPr>
              <a:t>23 sept.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329" y="4268294"/>
            <a:ext cx="2626643" cy="218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5" b="1" spc="20">
                <a:solidFill>
                  <a:srgbClr val="113B33"/>
                </a:solidFill>
                <a:latin typeface="Montserrat"/>
              </a:rPr>
              <a:t>SEPTEMBRE · TEMPS FORT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329" y="4509070"/>
            <a:ext cx="2626643" cy="1897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5" b="1">
                <a:solidFill>
                  <a:srgbClr val="1F5C45"/>
                </a:solidFill>
                <a:latin typeface="Lato"/>
              </a:rPr>
              <a:t>Événement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329" y="4706068"/>
            <a:ext cx="2626643" cy="160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5" b="0">
                <a:solidFill>
                  <a:srgbClr val="5F6B66"/>
                </a:solidFill>
                <a:latin typeface="Lato"/>
              </a:rPr>
              <a:t>Le Passage de la Clé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736" y="5100065"/>
            <a:ext cx="2626643" cy="218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63" b="1" spc="50">
                <a:solidFill>
                  <a:srgbClr val="113B33"/>
                </a:solidFill>
                <a:latin typeface="Montserrat"/>
              </a:rPr>
              <a:t>APRÈS L'ÉVÉNEMENT</a:t>
            </a:r>
          </a:p>
        </p:txBody>
      </p:sp>
      <p:sp>
        <p:nvSpPr>
          <p:cNvPr id="64" name="Influence continue + #PasseLaClé"/>
          <p:cNvSpPr txBox="1"/>
          <p:nvPr/>
        </p:nvSpPr>
        <p:spPr>
          <a:xfrm>
            <a:off x="525329" y="5377321"/>
            <a:ext cx="2626643" cy="1897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Influence continue + #PasseLaClé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329" y="5567023"/>
            <a:ext cx="2626643" cy="160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5" b="0">
                <a:solidFill>
                  <a:srgbClr val="5F6B66"/>
                </a:solidFill>
                <a:latin typeface="Lato"/>
              </a:rPr>
              <a:t>récupération des vidéos</a:t>
            </a:r>
          </a:p>
        </p:txBody>
      </p:sp>
      <p:sp>
        <p:nvSpPr>
          <p:cNvPr id="66" name="Barre Influence continue + #PasseLaClé"/>
          <p:cNvSpPr/>
          <p:nvPr/>
        </p:nvSpPr>
        <p:spPr>
          <a:xfrm>
            <a:off x="6372088" y="5289767"/>
            <a:ext cx="3167231" cy="248072"/>
          </a:xfrm>
          <a:prstGeom prst="roundRect">
            <a:avLst>
              <a:gd name="adj" fmla="val 50000"/>
            </a:avLst>
          </a:prstGeom>
          <a:solidFill>
            <a:srgbClr val="5B93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03421" y="5311655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FFFFFF"/>
                </a:solidFill>
                <a:latin typeface="Lato"/>
              </a:rPr>
              <a:t>25 sept.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2282" y="5311655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2A3A35"/>
                </a:solidFill>
                <a:latin typeface="Lato"/>
              </a:rPr>
              <a:t>19 nov.</a:t>
            </a:r>
          </a:p>
        </p:txBody>
      </p:sp>
      <p:sp>
        <p:nvSpPr>
          <p:cNvPr id="69" name="Création de nouvelles clés"/>
          <p:cNvSpPr txBox="1"/>
          <p:nvPr/>
        </p:nvSpPr>
        <p:spPr>
          <a:xfrm>
            <a:off x="525329" y="5822391"/>
            <a:ext cx="2626643" cy="1897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6" b="1">
                <a:solidFill>
                  <a:srgbClr val="113B33"/>
                </a:solidFill>
                <a:latin typeface="Lato"/>
              </a:rPr>
              <a:t>Création de nouvelles clés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329" y="6012093"/>
            <a:ext cx="2626643" cy="160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5" b="0">
                <a:solidFill>
                  <a:srgbClr val="5F6B66"/>
                </a:solidFill>
                <a:latin typeface="Lato"/>
              </a:rPr>
              <a:t>grâce au QR code et aux retours</a:t>
            </a:r>
          </a:p>
        </p:txBody>
      </p:sp>
      <p:sp>
        <p:nvSpPr>
          <p:cNvPr id="71" name="Barre Création de nouvelles clés"/>
          <p:cNvSpPr/>
          <p:nvPr/>
        </p:nvSpPr>
        <p:spPr>
          <a:xfrm>
            <a:off x="6372088" y="5764022"/>
            <a:ext cx="4750847" cy="248072"/>
          </a:xfrm>
          <a:prstGeom prst="roundRect">
            <a:avLst>
              <a:gd name="adj" fmla="val 50000"/>
            </a:avLst>
          </a:prstGeom>
          <a:solidFill>
            <a:srgbClr val="5B93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03421" y="5785910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FFFFFF"/>
                </a:solidFill>
                <a:latin typeface="Lato"/>
              </a:rPr>
              <a:t>25 sept.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95898" y="5785910"/>
            <a:ext cx="802585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91" b="0">
                <a:solidFill>
                  <a:srgbClr val="2A3A35"/>
                </a:solidFill>
                <a:latin typeface="Lato"/>
              </a:rPr>
              <a:t>17 déc.</a:t>
            </a:r>
          </a:p>
        </p:txBody>
      </p:sp>
      <p:cxnSp>
        <p:nvCxnSpPr>
          <p:cNvPr id="74" name="Ligne Jour J"/>
          <p:cNvCxnSpPr/>
          <p:nvPr/>
        </p:nvCxnSpPr>
        <p:spPr>
          <a:xfrm>
            <a:off x="6343810" y="1926205"/>
            <a:ext cx="0" cy="4326664"/>
          </a:xfrm>
          <a:prstGeom prst="line">
            <a:avLst/>
          </a:prstGeom>
          <a:ln w="14592">
            <a:solidFill>
              <a:srgbClr val="034034"/>
            </a:solidFill>
            <a:prstDash val="dash"/>
          </a:ln>
          <a:effectLst/>
        </p:spPr>
      </p:cxnSp>
      <p:sp>
        <p:nvSpPr>
          <p:cNvPr id="75" name="Point Jour J"/>
          <p:cNvSpPr/>
          <p:nvPr/>
        </p:nvSpPr>
        <p:spPr>
          <a:xfrm>
            <a:off x="6234366" y="4421515"/>
            <a:ext cx="218887" cy="218887"/>
          </a:xfrm>
          <a:prstGeom prst="ellipse">
            <a:avLst/>
          </a:prstGeom>
          <a:solidFill>
            <a:srgbClr val="0340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77289" y="4385034"/>
            <a:ext cx="2918492" cy="204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63" b="1">
                <a:solidFill>
                  <a:srgbClr val="113B33"/>
                </a:solidFill>
                <a:latin typeface="Lato"/>
              </a:rPr>
              <a:t>dimanche 24 septembre 2028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77289" y="4582032"/>
            <a:ext cx="1459246" cy="1897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35" b="1">
                <a:solidFill>
                  <a:srgbClr val="238B5A"/>
                </a:solidFill>
                <a:latin typeface="Lato"/>
              </a:rPr>
              <a:t>Jour J</a:t>
            </a:r>
          </a:p>
        </p:txBody>
      </p:sp>
      <p:sp>
        <p:nvSpPr>
          <p:cNvPr id="78" name="Pied de page"/>
          <p:cNvSpPr/>
          <p:nvPr/>
        </p:nvSpPr>
        <p:spPr>
          <a:xfrm>
            <a:off x="291849" y="6347720"/>
            <a:ext cx="11622894" cy="357515"/>
          </a:xfrm>
          <a:prstGeom prst="roundRect">
            <a:avLst>
              <a:gd name="adj" fmla="val 28571"/>
            </a:avLst>
          </a:prstGeom>
          <a:solidFill>
            <a:srgbClr val="EEF2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Icône fond"/>
          <p:cNvSpPr/>
          <p:nvPr/>
        </p:nvSpPr>
        <p:spPr>
          <a:xfrm>
            <a:off x="488847" y="6355016"/>
            <a:ext cx="350219" cy="350219"/>
          </a:xfrm>
          <a:prstGeom prst="ellipse">
            <a:avLst/>
          </a:prstGeom>
          <a:solidFill>
            <a:srgbClr val="156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Icône engrenage"/>
          <p:cNvSpPr/>
          <p:nvPr/>
        </p:nvSpPr>
        <p:spPr>
          <a:xfrm>
            <a:off x="576402" y="6442571"/>
            <a:ext cx="175110" cy="175110"/>
          </a:xfrm>
          <a:prstGeom prst="gear9">
            <a:avLst/>
          </a:prstGeom>
          <a:noFill/>
          <a:ln w="14592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Icône centre"/>
          <p:cNvSpPr/>
          <p:nvPr/>
        </p:nvSpPr>
        <p:spPr>
          <a:xfrm>
            <a:off x="634772" y="6500941"/>
            <a:ext cx="58370" cy="5837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2" name="Séparateur"/>
          <p:cNvCxnSpPr/>
          <p:nvPr/>
        </p:nvCxnSpPr>
        <p:spPr>
          <a:xfrm>
            <a:off x="1028768" y="6442571"/>
            <a:ext cx="0" cy="182406"/>
          </a:xfrm>
          <a:prstGeom prst="line">
            <a:avLst/>
          </a:prstGeom>
          <a:ln w="18241">
            <a:solidFill>
              <a:srgbClr val="113B33"/>
            </a:solidFill>
          </a:ln>
          <a:effectLst/>
        </p:spPr>
      </p:cxnSp>
      <p:sp>
        <p:nvSpPr>
          <p:cNvPr id="83" name="Préparation interne"/>
          <p:cNvSpPr txBox="1"/>
          <p:nvPr/>
        </p:nvSpPr>
        <p:spPr>
          <a:xfrm>
            <a:off x="1174693" y="6406090"/>
            <a:ext cx="10579533" cy="248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9" b="1">
                <a:solidFill>
                  <a:srgbClr val="113B33"/>
                </a:solidFill>
                <a:latin typeface="Lato"/>
              </a:rPr>
              <a:t>Préparation interne · janv. → août : </a:t>
            </a:r>
            <a:r>
              <a:rPr sz="1062" b="0">
                <a:solidFill>
                  <a:srgbClr val="2A3A35"/>
                </a:solidFill>
                <a:latin typeface="Lato"/>
              </a:rPr>
              <a:t>validation des 25 clés, contenus, visuels, organisation de l'événement.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